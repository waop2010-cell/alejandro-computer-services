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Saludo (30 s). Dejar claro desde el inicio: hoy no es una charla teórica sobre inteligencia artificial. Es una guía de manejo de la herramienta Google Gemini: dónde se abre, qué botones usar, cómo pedir bien y qué no subir. Al final, cada persona debería poder entrar y hacer una consulta útil.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40 s. Decir que si hay computador, pueden abrir gemini.google.com en paralelo. La meta: que sepan operar la herramienta, no recitar definiciones.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Si puede, proyecte gemini.google.com 10 segundos y señale: historial, caja de texto, clip de archivos. Insistir en la cuenta institucional. No mezclar temas en el mismo chat.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2,5 min. Contraste rápido: mal prompt «ayúdame con TI» vs buen prompt con rol, objetivo, archivo y «no inventes». Diga que se puede continuar el chat: «acorta a media página», «pásalo a correo», «hazlo para guardias».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Leer en voz alta las dos columnas. Invitar a que copien la de la derecha y la adapten. Mensaje: la calidad de Gemini depende de la calidad de lo que usted escribe y adjunta.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Si hay demo: adjunte un PDF inofensivo (un procedimiento interno no confidencial o un texto de ejemplo) y pida 8 viñetas. Advertir: no subir cédulas, contraseñas ni datos de clientes.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2,5 min. No explicar todas a fondo. Priorizar: Chat + adjuntar (uso diario), Gems (si el área repite la misma tarea), Deep Research (solo para investigar un tema, no para inventar política interna). Live: mención breve para campo/soporte.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Este es el corazón de la exposición. Recorrerlo despacio. Si hay tiempo, ejecutarlo en vivo con un ejemplo inofensivo. El paso 5 no se salta: revisar siempre.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Un ejemplo por bloque, del trabajo real: acta, PDF de procedimiento, checklist semestral, captura de error, texto para guardias. Cerrar: el valor está en minutos ahorrados en tareas que ya hacen, no en «probar IA».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1,5 min. Tono práctico, no alarmista. Analogía: es como reenviar un borrador a un colega externo: no le mande lo que no debe salir del área. Si la empresa tiene Gemini de Workspace, preferirlo para archivos de Drive.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40 s. Repetir la secuencia. Abrir preguntas. Si hay silencio: «¿quién quiere que recorramos juntos un ejemplo de correo o de resumen de PDF?»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3E4D7"/>
                </a:solidFill>
                <a:latin typeface="Calibri"/>
              </a:rPr>
              <a:t>GUÍA PRÁCTICA  ·  15 MINUTOS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alibri"/>
              </a:rPr>
              <a:t>Manejo y uso de
Google Gemini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794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D6EAF8"/>
                </a:solidFill>
                <a:latin typeface="Calibri"/>
              </a:rPr>
              <a:t>Cómo entrar, cómo preguntar y cómo aprovechar la herramienta
para el trabajo diario — con criterio y sin perder el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B6BF"/>
                </a:solidFill>
                <a:latin typeface="Calibri"/>
              </a:rPr>
              <a:t>Área de Tecnología de la Información  ·  gemini.google.com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MAPA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Qué vamos a aprender a usar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361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5727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Cómo entrar y reconocer la pantalla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5910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D6D7E"/>
                </a:solidFill>
                <a:latin typeface="Calibri"/>
              </a:rPr>
              <a:t>2 min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8600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4505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871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Cómo escribir una instrucción que sirva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5054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D6D7E"/>
                </a:solidFill>
                <a:latin typeface="Calibri"/>
              </a:rPr>
              <a:t>4 min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20040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4015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Archivos, Drive y funciones clave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34198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D6D7E"/>
                </a:solidFill>
                <a:latin typeface="Calibri"/>
              </a:rPr>
              <a:t>4 min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43159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Recorrido práctico de uso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43342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D6D7E"/>
                </a:solidFill>
                <a:latin typeface="Calibri"/>
              </a:rPr>
              <a:t>3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5029200"/>
            <a:ext cx="11155680" cy="7772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193792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23036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Calibri"/>
              </a:rPr>
              <a:t>Cuidados al usar la herramienta y preguntas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524865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>
                <a:solidFill>
                  <a:srgbClr val="5D6D7E"/>
                </a:solidFill>
                <a:latin typeface="Calibri"/>
              </a:rPr>
              <a:t>2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Manejo y uso de Google Gemini  ·  Sesión práctica de 15 minutos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PRIMER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Cómo entrar a Google Gemini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3703320" cy="480060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4356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1. Abrir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83080"/>
            <a:ext cx="3374136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En el computador: gemini.google.com
En el celular: aplicación Gemini (Android o iOS).
Inicie sesión con su cuenta de Google institucional, si TI así lo definió.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325880"/>
            <a:ext cx="3703320" cy="48006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4356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2. Qué verá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783080"/>
            <a:ext cx="3374136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Arriba o a la izquierda: chats anteriores.
Al centro: caja para escribir.
Junto a la caja: botón para adjuntar archivos y herramientas (Deep Research, Canvas, etc.).
Cada conversación es un hilo. Puede volver a ella.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703320" cy="4800600"/>
          </a:xfrm>
          <a:prstGeom prst="round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7032" y="143560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D6608"/>
                </a:solidFill>
                <a:latin typeface="Calibri"/>
              </a:rPr>
              <a:t>3. Antes de escribir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7032" y="1783080"/>
            <a:ext cx="3374136" cy="4233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Revise que está en la cuenta correcta.
Un chat nuevo = un tema nuevo. Así no mezcla un procedimiento con un correo personal.
Si la empresa tiene Gemini en Workspace, úselo ahí para Gmail, Docs y Drive.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Manejo y uso de Google Gemini  ·  Sesión práctica de 15 minutos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EL CORAZÓN DE LA HERRAMIENTA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Cómo pedirle trabajo (la instrucción)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822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39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F77"/>
                </a:solidFill>
                <a:latin typeface="Calibri"/>
              </a:rPr>
              <a:t>1. Diga el 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48132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«Actúa como analista de sistemas» o «explica para un usuario no técnico».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94560"/>
            <a:ext cx="11247120" cy="822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F77"/>
                </a:solidFill>
                <a:latin typeface="Calibri"/>
              </a:rPr>
              <a:t>2. Diga el 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39572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Resumir, redactar, comparar, armar pasos, corregir, traducir.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108960"/>
            <a:ext cx="11247120" cy="822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918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F77"/>
                </a:solidFill>
                <a:latin typeface="Calibri"/>
              </a:rPr>
              <a:t>3. Entregue el material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31012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Pegue el texto o adjunte el archivo. Sin datos, Gemini inventa.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023360"/>
            <a:ext cx="11247120" cy="822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062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F77"/>
                </a:solidFill>
                <a:latin typeface="Calibri"/>
              </a:rPr>
              <a:t>4. Pida el formato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22452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Lista, tabla, correo, 8 viñetas, procedimiento de 12 pasos.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937760"/>
            <a:ext cx="11247120" cy="82296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2064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8F77"/>
                </a:solidFill>
                <a:latin typeface="Calibri"/>
              </a:rPr>
              <a:t>5. Ponga un límite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49039" y="5138928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«No inventes datos que no estén en el archivo. Si falta algo, dímelo».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Manejo y uso de Google Gemini  ·  Sesión práctica de 15 minutos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EJEMPLO PARA COPIAR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Una instrucción débil vs una que sí se puede usar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325880"/>
            <a:ext cx="5532120" cy="480060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922B21"/>
                </a:solidFill>
                <a:latin typeface="Calibri"/>
              </a:rPr>
              <a:t>Poco útil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833"/>
                </a:solidFill>
                <a:latin typeface="Calibri"/>
              </a:rPr>
              <a:t>«Háblame de Gemini.»
«Hazme un procedimiento.»
«Resume esto.»  (sin adjuntar nada)
Resultado: texto genérico, largo y difícil de aplicar.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532120" cy="480060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50876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48F77"/>
                </a:solidFill>
                <a:latin typeface="Calibri"/>
              </a:rPr>
              <a:t>Útil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5074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1C2833"/>
                </a:solidFill>
                <a:latin typeface="Calibri"/>
              </a:rPr>
              <a:t>«Eres asistente de TI. Con el PDF adjunto, arma un resumen de 8 viñetas para el usuario final. Luego un correo corto de convocatoria. No agregues pasos que no estén en el documento. Marca con «Falta dato» lo que no aparezca.»
Resultado: un borrador revisable en minutos.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Manejo y uso de Google Gemini  ·  Sesión práctica de 15 minutos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TRAER SU MATERIAL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Cómo adjuntar archivos y usar Drive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11247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833"/>
                </a:solidFill>
                <a:latin typeface="Calibri"/>
              </a:rPr>
              <a:t>•  En la caja de texto, pulse el ícono de adjuntar (clip o «Añadir archivos»).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833"/>
                </a:solidFill>
                <a:latin typeface="Calibri"/>
              </a:rPr>
              <a:t>•  Puede subir PDF, Word, imágenes, hojas de cálculo o capturas de pantalla.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833"/>
                </a:solidFill>
                <a:latin typeface="Calibri"/>
              </a:rPr>
              <a:t>•  También puede tomar un archivo desde Google Drive, si la cuenta está conectada.</a:t>
            </a:r>
          </a:p>
          <a:p>
            <a:pPr algn="l">
              <a:spcAft>
                <a:spcPts val="800"/>
              </a:spcAft>
            </a:pPr>
            <a:r>
              <a:rPr sz="1700" b="0">
                <a:solidFill>
                  <a:srgbClr val="1C2833"/>
                </a:solidFill>
                <a:latin typeface="Calibri"/>
              </a:rPr>
              <a:t>•  Después de adjuntar, escriba qué quiere que haga con ese archivo: resumir, extraer pasos, comparar, armar checklist.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657600"/>
            <a:ext cx="3703320" cy="24688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3767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Imagen o captura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4114800"/>
            <a:ext cx="337413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«¿Qué dice esta pantalla?» «Lista los campos del formulario.» Útil para tickets y errores.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3657600"/>
            <a:ext cx="3703320" cy="246888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6552" y="3767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PDF o procedimiento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16552" y="4114800"/>
            <a:ext cx="337413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«Convierte esto en pasos numerados y responsables.» Ideal para TI-PRO y actas.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657600"/>
            <a:ext cx="3703320" cy="2468880"/>
          </a:xfrm>
          <a:prstGeom prst="roundRect">
            <a:avLst/>
          </a:prstGeom>
          <a:solidFill>
            <a:srgbClr val="FCF3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2" y="376732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D6608"/>
                </a:solidFill>
                <a:latin typeface="Calibri"/>
              </a:rPr>
              <a:t>Hoja o listado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2" y="4114800"/>
            <a:ext cx="3374136" cy="1901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«Encuentra duplicados, fechas vencidas o equipos sin usuario.» Revise siempre las cifras.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Manejo y uso de Google Gemini  ·  Sesión práctica de 15 minutos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CAJA DE HERRAMIENTAS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Funciones de Gemini que sí conviene conocer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80160"/>
            <a:ext cx="5623560" cy="14173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38988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1737360"/>
            <a:ext cx="52943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Conversación normal. Siga el hilo: corrija, acorte, cambie el tono o pida otra versión.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280160"/>
            <a:ext cx="5623560" cy="141732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28232" y="138988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Deep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737360"/>
            <a:ext cx="52943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En la barra, elija Deep Research. Gemini arma un plan, busca fuentes y entrega un informe. Revise el plan antes de iniciar.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834639"/>
            <a:ext cx="5623560" cy="14173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" y="2944367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Canvas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291839"/>
            <a:ext cx="52943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Espacio al lado del chat para redactar, editar o armar un entregable más largo (documento, esquema, código).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34639"/>
            <a:ext cx="5623560" cy="141732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2944367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Gems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291839"/>
            <a:ext cx="52943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Menú Gems: cree un asistente con instrucciones fijas (ej. «redacta actas de TI»). Se reutiliza sin repetir el prompt.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4389120"/>
            <a:ext cx="5623560" cy="14173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" y="449884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Gemini Live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" y="4846320"/>
            <a:ext cx="52943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En el celular: voz, cámara o pantalla. Útil para explicar un error en el equipo con las manos ocupadas.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389120"/>
            <a:ext cx="5623560" cy="141732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4498848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Exportar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846320"/>
            <a:ext cx="5294376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Muchas respuestas se pueden pasar a Docs, Gmail o copiar. Usted pule y envía; Gemini no envía solo.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Manejo y uso de Google Gemini  ·  Sesión práctica de 15 minutos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HÁGALO ASÍ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Recorrido de uso en 6 clics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24712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26463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463039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  <a:latin typeface="Calibri"/>
              </a:rPr>
              <a:t>Entre a gemini.google.com e inicie un chat nuevo.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084831"/>
            <a:ext cx="1124712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31136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267712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  <a:latin typeface="Calibri"/>
              </a:rPr>
              <a:t>Adjunte el archivo o pegue el texto de trabajo.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889503"/>
            <a:ext cx="1124712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035808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072384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  <a:latin typeface="Calibri"/>
              </a:rPr>
              <a:t>Escriba rol + objetivo + formato + «no inventes».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694176"/>
            <a:ext cx="1124712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84048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877056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  <a:latin typeface="Calibri"/>
              </a:rPr>
              <a:t>Lea la respuesta. Pida ajuste: más corto, en tabla, en tono de correo.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498848"/>
            <a:ext cx="1124712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6451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4681728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  <a:latin typeface="Calibri"/>
              </a:rPr>
              <a:t>Copie o exporte. Corrija nombres, fechas y reglas de la empresa.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303520"/>
            <a:ext cx="11247120" cy="73152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9824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48F77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9875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C2833"/>
                </a:solidFill>
                <a:latin typeface="Calibri"/>
              </a:rPr>
              <a:t>Publique o envíe usted. Guarde el chat si el prompt quedó bueno.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Manejo y uso de Google Gemini  ·  Sesión práctica de 15 minutos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VALOR PARA EL USUARIO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Qué puede hacer hoy con la herramienta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3703320" cy="21488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389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Redactar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737360"/>
            <a:ext cx="337413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Correos, convocatorias, actas y el primer borrador de un procedimiento.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3703320" cy="21488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389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Entender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737360"/>
            <a:ext cx="337413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Resumir un PDF largo, una política o un hilo de correos en 10 líneas.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703320" cy="214884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38988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Calibri"/>
              </a:rPr>
              <a:t>Preparar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737360"/>
            <a:ext cx="337413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Checklist de mantenimiento, preguntas para una reunión, guía para el usuario.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611879"/>
            <a:ext cx="3703320" cy="214884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3721607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Apoyar soporte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4069079"/>
            <a:ext cx="337413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A partir de una captura: posibles causas y qué verificar (sin cerrar el ticket).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51960" y="3611879"/>
            <a:ext cx="3703320" cy="214884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6552" y="3721607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Traducir / adaptar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4069079"/>
            <a:ext cx="337413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Pasar un texto técnico a lenguaje de personal administrativo o de campo.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611879"/>
            <a:ext cx="3703320" cy="2148840"/>
          </a:xfrm>
          <a:prstGeom prst="roundRect">
            <a:avLst/>
          </a:prstGeom>
          <a:solidFill>
            <a:srgbClr val="E8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2" y="3721607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48F77"/>
                </a:solidFill>
                <a:latin typeface="Calibri"/>
              </a:rPr>
              <a:t>Ordenar ideas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4069079"/>
            <a:ext cx="3374136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1C2833"/>
                </a:solidFill>
                <a:latin typeface="Calibri"/>
              </a:rPr>
              <a:t>De apuntes sueltos a pasos, tabla de responsables o comparación de opciones.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Manejo y uso de Google Gemini  ·  Sesión práctica de 15 minutos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73152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3E4D7"/>
                </a:solidFill>
                <a:latin typeface="Calibri"/>
              </a:rPr>
              <a:t>USO RESPONSABLE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Al manejar Gemini, tenga presentes estas reglas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11247120" cy="1097280"/>
          </a:xfrm>
          <a:prstGeom prst="roundRect">
            <a:avLst/>
          </a:prstGeom>
          <a:solidFill>
            <a:srgbClr val="FDED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1848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22B21"/>
                </a:solidFill>
                <a:latin typeface="Calibri"/>
              </a:rPr>
              <a:t>No suba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58191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Contraseñas, cédulas, datos de clientes, nómina ni información que no publicaría en un correo abierto.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14600"/>
            <a:ext cx="11247120" cy="10972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80720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Verifique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77063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Nombres, fechas, cifras y pasos. Gemini puede afirmar con seguridad algo que no está en su archivo.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703320"/>
            <a:ext cx="11247120" cy="10972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99592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Separe chats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95935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Un tema por conversación. Facilita reutilizar el prompt y no mezclar contextos.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892040"/>
            <a:ext cx="11247120" cy="1097280"/>
          </a:xfrm>
          <a:prstGeom prst="roundRect">
            <a:avLst/>
          </a:prstGeom>
          <a:solidFill>
            <a:srgbClr val="EA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5184648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  <a:latin typeface="Calibri"/>
              </a:rPr>
              <a:t>Usted envía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148072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C2833"/>
                </a:solidFill>
                <a:latin typeface="Calibri"/>
              </a:rPr>
              <a:t>Gemini no reemplaza la aprobación de jefatura ni la firma de un procedimiento.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54710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Manejo y uso de Google Gemini  ·  Sesión práctica de 15 minutos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47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53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8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3E4D7"/>
                </a:solidFill>
                <a:latin typeface="Calibri"/>
              </a:rPr>
              <a:t>PARA LLEVARSE HOY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Entre, adjunte, pida con claridad,
revise y envíe usted.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D6EAF8"/>
                </a:solidFill>
                <a:latin typeface="Calibri"/>
              </a:rPr>
              <a:t>gemini.google.com  ·  Un chat por tema  ·  «No inventes» en la instrucción.
Preguntas.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EB6BF"/>
                </a:solidFill>
                <a:latin typeface="Calibri"/>
              </a:rPr>
              <a:t>Área de Tecnología de la Información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