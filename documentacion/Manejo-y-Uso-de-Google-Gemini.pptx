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71" r:id="rId2"/>
    <p:sldId id="272" r:id="rId3"/>
    <p:sldId id="273" r:id="rId4"/>
    <p:sldId id="274" r:id="rId5"/>
    <p:sldId id="275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76" r:id="rId1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78" d="100"/>
          <a:sy n="78" d="100"/>
        </p:scale>
        <p:origin x="850" y="6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5527348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8530193B-564F-4854-8A52-728F3FB19C85}" type="slidenum">
              <a:rPr lang="es-ES" smtClean="0"/>
              <a:t>1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75781675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8530193B-564F-4854-8A52-728F3FB19C85}" type="slidenum">
              <a:rPr lang="es-ES" noProof="0" smtClean="0"/>
              <a:t>2</a:t>
            </a:fld>
            <a:endParaRPr lang="es-ES" noProof="0"/>
          </a:p>
        </p:txBody>
      </p:sp>
    </p:spTree>
    <p:extLst>
      <p:ext uri="{BB962C8B-B14F-4D97-AF65-F5344CB8AC3E}">
        <p14:creationId xmlns:p14="http://schemas.microsoft.com/office/powerpoint/2010/main" val="176105257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8530193B-564F-4854-8A52-728F3FB19C85}" type="slidenum">
              <a:rPr lang="es-ES" noProof="0" smtClean="0"/>
              <a:t>3</a:t>
            </a:fld>
            <a:endParaRPr lang="es-ES" noProof="0"/>
          </a:p>
        </p:txBody>
      </p:sp>
    </p:spTree>
    <p:extLst>
      <p:ext uri="{BB962C8B-B14F-4D97-AF65-F5344CB8AC3E}">
        <p14:creationId xmlns:p14="http://schemas.microsoft.com/office/powerpoint/2010/main" val="236270224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8530193B-564F-4854-8A52-728F3FB19C85}" type="slidenum">
              <a:rPr lang="es-ES" noProof="0" smtClean="0"/>
              <a:t>4</a:t>
            </a:fld>
            <a:endParaRPr lang="es-ES" noProof="0"/>
          </a:p>
        </p:txBody>
      </p:sp>
    </p:spTree>
    <p:extLst>
      <p:ext uri="{BB962C8B-B14F-4D97-AF65-F5344CB8AC3E}">
        <p14:creationId xmlns:p14="http://schemas.microsoft.com/office/powerpoint/2010/main" val="344480584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DD1F1F-41AC-B264-DB63-749BDC7A6C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835BB4CF-9E0D-3926-FACA-8A987F04691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27AC704E-81BF-8073-24CD-DA117F45624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B951C36A-5EEF-A8C3-B269-CF3DC48C52D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8530193B-564F-4854-8A52-728F3FB19C85}" type="slidenum">
              <a:rPr lang="es-ES" noProof="0" smtClean="0"/>
              <a:t>5</a:t>
            </a:fld>
            <a:endParaRPr lang="es-ES" noProof="0"/>
          </a:p>
        </p:txBody>
      </p:sp>
    </p:spTree>
    <p:extLst>
      <p:ext uri="{BB962C8B-B14F-4D97-AF65-F5344CB8AC3E}">
        <p14:creationId xmlns:p14="http://schemas.microsoft.com/office/powerpoint/2010/main" val="240543208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40 s. Decir que si hay computador, pueden abrir gemini.google.com en paralelo. La meta: que sepan operar la herramienta, no recitar definiciones.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2 min. Si puede, proyecte gemini.google.com 10 segundos y señale: historial, caja de texto, clip de archivos. Insistir en la cuenta institucional. No mezclar temas en el mismo chat.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2,5 min. Contraste rápido: mal prompt «ayúdame con TI» vs buen prompt con rol, objetivo, archivo y «no inventes». Diga que se puede continuar el chat: «acorta a media página», «pásalo a correo», «hazlo para guardias».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1,5 min. Leer en voz alta las dos columnas. Invitar a que copien la de la derecha y la adapten. Mensaje: la calidad de Gemini depende de la calidad de lo que usted escribe y adjunta.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2 min. Si hay demo: adjunte un PDF inofensivo (un procedimiento interno no confidencial o un texto de ejemplo) y pida 8 viñetas. Advertir: no subir cédulas, contraseñas ni datos de clientes.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2,5 min. No explicar todas a fondo. Priorizar: Chat + adjuntar (uso diario), Gems (si el área repite la misma tarea), Deep Research (solo para investigar un tema, no para inventar política interna). Live: mención breve para campo/soporte.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2 min. Este es el corazón de la exposición. Recorrerlo despacio. Si hay tiempo, ejecutarlo en vivo con un ejemplo inofensivo. El paso 5 no se salta: revisar siempre.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2 min. Un ejemplo por bloque, del trabajo real: acta, PDF de procedimiento, checklist semestral, captura de error, texto para guardias. Cerrar: el valor está en minutos ahorrados en tareas que ya hacen, no en «probar IA».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1,5 min. Tono práctico, no alarmista. Analogía: es como reenviar un borrador a un colega externo: no le mande lo que no debe salir del área. Si la empresa tiene Gemini de Workspace, preferirlo para archivos de Drive.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B9C9DF-F948-5DD5-A6F4-CCED2507D0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35383A28-C04F-5564-A974-E06246C9EDF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BFB92568-F8C9-703C-2128-68F0D27E920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E3E2277F-B01B-79A0-88CA-EBB9F714739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8530193B-564F-4854-8A52-728F3FB19C85}" type="slidenum">
              <a:rPr lang="es-ES" noProof="0" smtClean="0"/>
              <a:t>15</a:t>
            </a:fld>
            <a:endParaRPr lang="es-ES" noProof="0"/>
          </a:p>
        </p:txBody>
      </p:sp>
    </p:spTree>
    <p:extLst>
      <p:ext uri="{BB962C8B-B14F-4D97-AF65-F5344CB8AC3E}">
        <p14:creationId xmlns:p14="http://schemas.microsoft.com/office/powerpoint/2010/main" val="94667693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Diapositiva del título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Marcador de posición de imagen 40">
            <a:extLst>
              <a:ext uri="{FF2B5EF4-FFF2-40B4-BE49-F238E27FC236}">
                <a16:creationId xmlns:a16="http://schemas.microsoft.com/office/drawing/2014/main" id="{EB7F0EE8-BE52-4A79-8FC8-4A2487FA01FC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1" y="2"/>
            <a:ext cx="9780588" cy="6804025"/>
          </a:xfrm>
          <a:solidFill>
            <a:schemeClr val="bg1">
              <a:lumMod val="85000"/>
            </a:schemeClr>
          </a:solidFill>
        </p:spPr>
        <p:txBody>
          <a:bodyPr tIns="1728000" rtlCol="0" anchor="t"/>
          <a:lstStyle>
            <a:lvl1pPr marL="0" indent="0" algn="ctr">
              <a:buNone/>
              <a:defRPr sz="900" i="1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pPr rtl="0"/>
            <a:r>
              <a:rPr lang="es-ES" noProof="0"/>
              <a:t>Inserte o arrastre y coloque su foto aquí</a:t>
            </a: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00F23EB7-E336-46EB-A4A0-3DB7A6BF4CE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200400" y="2811055"/>
            <a:ext cx="8991600" cy="1261295"/>
          </a:xfrm>
          <a:solidFill>
            <a:schemeClr val="bg1"/>
          </a:solidFill>
        </p:spPr>
        <p:txBody>
          <a:bodyPr vert="horz" lIns="180000" tIns="180000" rIns="252000" bIns="180000" rtlCol="0" anchor="t">
            <a:noAutofit/>
          </a:bodyPr>
          <a:lstStyle>
            <a:lvl1pPr algn="r">
              <a:lnSpc>
                <a:spcPct val="70000"/>
              </a:lnSpc>
              <a:defRPr lang="en-ZA" sz="2850" b="1" spc="-225" dirty="0"/>
            </a:lvl1pPr>
          </a:lstStyle>
          <a:p>
            <a:pPr lvl="0" algn="r" rtl="0"/>
            <a:r>
              <a:rPr lang="es-ES" noProof="0" dirty="0"/>
              <a:t>Haga clic para editar el título de la presentación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C9980B88-3F4A-4688-9ED0-17EF37E62D93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200401" y="4061041"/>
            <a:ext cx="6580188" cy="580921"/>
          </a:xfrm>
          <a:solidFill>
            <a:schemeClr val="tx1">
              <a:alpha val="80000"/>
            </a:schemeClr>
          </a:solidFill>
        </p:spPr>
        <p:txBody>
          <a:bodyPr vert="horz" lIns="180000" tIns="180000" rIns="180000" bIns="180000" rtlCol="0">
            <a:noAutofit/>
          </a:bodyPr>
          <a:lstStyle>
            <a:lvl1pPr marL="0" indent="0" algn="r">
              <a:buNone/>
              <a:defRPr lang="en-ZA" dirty="0">
                <a:solidFill>
                  <a:schemeClr val="bg1"/>
                </a:solidFill>
              </a:defRPr>
            </a:lvl1pPr>
          </a:lstStyle>
          <a:p>
            <a:pPr marL="200025" lvl="0" indent="-200025" algn="ctr" rtl="0"/>
            <a:r>
              <a:rPr lang="es-ES" noProof="0"/>
              <a:t>Haga clic para editar el estilo de subtítulo del patrón</a:t>
            </a:r>
          </a:p>
        </p:txBody>
      </p:sp>
      <p:sp>
        <p:nvSpPr>
          <p:cNvPr id="13" name="Rectángulo 12">
            <a:extLst>
              <a:ext uri="{FF2B5EF4-FFF2-40B4-BE49-F238E27FC236}">
                <a16:creationId xmlns:a16="http://schemas.microsoft.com/office/drawing/2014/main" id="{EC0FBB1B-4F0E-4365-BF27-3150FC6C3B90}"/>
              </a:ext>
            </a:extLst>
          </p:cNvPr>
          <p:cNvSpPr/>
          <p:nvPr userDrawn="1"/>
        </p:nvSpPr>
        <p:spPr>
          <a:xfrm>
            <a:off x="9780105" y="6803351"/>
            <a:ext cx="1979897" cy="5465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s-ES" sz="1350" noProof="0"/>
          </a:p>
        </p:txBody>
      </p:sp>
      <p:sp>
        <p:nvSpPr>
          <p:cNvPr id="14" name="Rectángulo 13">
            <a:extLst>
              <a:ext uri="{FF2B5EF4-FFF2-40B4-BE49-F238E27FC236}">
                <a16:creationId xmlns:a16="http://schemas.microsoft.com/office/drawing/2014/main" id="{7A13D8A8-6C3D-4527-959D-41C3213F7F02}"/>
              </a:ext>
            </a:extLst>
          </p:cNvPr>
          <p:cNvSpPr/>
          <p:nvPr userDrawn="1"/>
        </p:nvSpPr>
        <p:spPr>
          <a:xfrm>
            <a:off x="0" y="6803351"/>
            <a:ext cx="9780104" cy="546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s-ES" sz="1350" noProof="0"/>
          </a:p>
        </p:txBody>
      </p:sp>
      <p:sp>
        <p:nvSpPr>
          <p:cNvPr id="15" name="Rectángulo 14">
            <a:extLst>
              <a:ext uri="{FF2B5EF4-FFF2-40B4-BE49-F238E27FC236}">
                <a16:creationId xmlns:a16="http://schemas.microsoft.com/office/drawing/2014/main" id="{9504A767-1C0B-484E-BF7D-CD42D30A52EE}"/>
              </a:ext>
            </a:extLst>
          </p:cNvPr>
          <p:cNvSpPr/>
          <p:nvPr userDrawn="1"/>
        </p:nvSpPr>
        <p:spPr>
          <a:xfrm>
            <a:off x="11760000" y="6803351"/>
            <a:ext cx="432000" cy="546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s-ES" sz="1350" noProof="0"/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51DD44D8-4A8F-4693-B90A-166855B29D25}"/>
              </a:ext>
            </a:extLst>
          </p:cNvPr>
          <p:cNvSpPr/>
          <p:nvPr userDrawn="1"/>
        </p:nvSpPr>
        <p:spPr>
          <a:xfrm>
            <a:off x="9780589" y="2698612"/>
            <a:ext cx="2411412" cy="114824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s-ES" sz="1350" noProof="0"/>
          </a:p>
        </p:txBody>
      </p:sp>
    </p:spTree>
    <p:extLst>
      <p:ext uri="{BB962C8B-B14F-4D97-AF65-F5344CB8AC3E}">
        <p14:creationId xmlns:p14="http://schemas.microsoft.com/office/powerpoint/2010/main" val="200630064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Diseño de la imagen del texto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Marcador de posición de imagen 6">
            <a:extLst>
              <a:ext uri="{FF2B5EF4-FFF2-40B4-BE49-F238E27FC236}">
                <a16:creationId xmlns:a16="http://schemas.microsoft.com/office/drawing/2014/main" id="{890ED7CE-A9D2-4D19-B978-56BFB74E657C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6096000" y="-1"/>
            <a:ext cx="6096000" cy="6371351"/>
          </a:xfrm>
          <a:solidFill>
            <a:schemeClr val="bg1">
              <a:lumMod val="95000"/>
            </a:schemeClr>
          </a:solidFill>
        </p:spPr>
        <p:txBody>
          <a:bodyPr tIns="1584000" rtlCol="0" anchor="t"/>
          <a:lstStyle>
            <a:lvl1pPr marL="0" indent="0" algn="ctr">
              <a:buNone/>
              <a:defRPr sz="900" i="1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pPr rtl="0"/>
            <a:r>
              <a:rPr lang="es-ES" noProof="0"/>
              <a:t>Inserte o arrastre y coloque su foto</a:t>
            </a: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40EE479C-D1F6-4BAC-80D2-90EF74E3261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111800" y="3802899"/>
            <a:ext cx="4648200" cy="985000"/>
          </a:xfrm>
          <a:solidFill>
            <a:schemeClr val="bg1"/>
          </a:solidFill>
        </p:spPr>
        <p:txBody>
          <a:bodyPr lIns="180000" tIns="180000" rIns="180000" bIns="180000" rtlCol="0"/>
          <a:lstStyle>
            <a:lvl1pPr algn="r">
              <a:lnSpc>
                <a:spcPct val="70000"/>
              </a:lnSpc>
              <a:defRPr sz="2850" b="1" spc="-225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es-ES" noProof="0" dirty="0"/>
              <a:t>Edite el título de la página</a:t>
            </a:r>
          </a:p>
        </p:txBody>
      </p:sp>
      <p:sp>
        <p:nvSpPr>
          <p:cNvPr id="10" name="Subtítulo 2">
            <a:extLst>
              <a:ext uri="{FF2B5EF4-FFF2-40B4-BE49-F238E27FC236}">
                <a16:creationId xmlns:a16="http://schemas.microsoft.com/office/drawing/2014/main" id="{3FAEED1D-0E66-4F74-9455-675F5CB7EAD4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7111800" y="4787900"/>
            <a:ext cx="4648200" cy="1162800"/>
          </a:xfrm>
          <a:solidFill>
            <a:schemeClr val="tx1">
              <a:alpha val="80000"/>
            </a:schemeClr>
          </a:solidFill>
        </p:spPr>
        <p:txBody>
          <a:bodyPr lIns="180000" tIns="180000" rIns="180000" bIns="180000" rtlCol="0"/>
          <a:lstStyle>
            <a:lvl1pPr marL="0" indent="0" algn="r">
              <a:buNone/>
              <a:defRPr>
                <a:solidFill>
                  <a:schemeClr val="bg1"/>
                </a:solidFill>
              </a:defRPr>
            </a:lvl1pPr>
            <a:lvl2pPr marL="200025" indent="0">
              <a:buNone/>
              <a:defRPr/>
            </a:lvl2pPr>
            <a:lvl3pPr marL="407194" indent="0">
              <a:buNone/>
              <a:defRPr/>
            </a:lvl3pPr>
            <a:lvl4pPr marL="607219" indent="0">
              <a:buNone/>
              <a:defRPr/>
            </a:lvl4pPr>
            <a:lvl5pPr marL="807244" indent="0">
              <a:buNone/>
              <a:defRPr/>
            </a:lvl5pPr>
          </a:lstStyle>
          <a:p>
            <a:pPr lvl="0" rtl="0"/>
            <a:r>
              <a:rPr lang="es-ES" noProof="0"/>
              <a:t>Subtítulo</a:t>
            </a:r>
          </a:p>
        </p:txBody>
      </p:sp>
      <p:sp>
        <p:nvSpPr>
          <p:cNvPr id="3" name="Marcador de posición de contenido 2">
            <a:extLst>
              <a:ext uri="{FF2B5EF4-FFF2-40B4-BE49-F238E27FC236}">
                <a16:creationId xmlns:a16="http://schemas.microsoft.com/office/drawing/2014/main" id="{A22238F2-C6EC-476F-8371-119AECBA5622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432000" y="2668686"/>
            <a:ext cx="5472000" cy="2999426"/>
          </a:xfrm>
        </p:spPr>
        <p:txBody>
          <a:bodyPr rtlCol="0" anchor="b"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 rtl="0"/>
            <a:r>
              <a:rPr lang="es-ES" noProof="0"/>
              <a:t>Editar estilos de texto del patrón</a:t>
            </a:r>
          </a:p>
          <a:p>
            <a:pPr lvl="1" rtl="0"/>
            <a:r>
              <a:rPr lang="es-ES" noProof="0"/>
              <a:t>Segundo nivel</a:t>
            </a:r>
          </a:p>
          <a:p>
            <a:pPr lvl="2" rtl="0"/>
            <a:r>
              <a:rPr lang="es-ES" noProof="0"/>
              <a:t>Tercer nivel</a:t>
            </a:r>
          </a:p>
          <a:p>
            <a:pPr lvl="3" rtl="0"/>
            <a:r>
              <a:rPr lang="es-ES" noProof="0"/>
              <a:t>Cuarto nivel</a:t>
            </a:r>
          </a:p>
          <a:p>
            <a:pPr lvl="4" rtl="0"/>
            <a:r>
              <a:rPr lang="es-ES" noProof="0"/>
              <a:t>Quinto nivel</a:t>
            </a:r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57847F90-9DB6-4832-9EB7-393AADAE8B70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 rtlCol="0"/>
          <a:lstStyle/>
          <a:p>
            <a:pPr rtl="0"/>
            <a:r>
              <a:rPr lang="es-ES" noProof="0"/>
              <a:t>Agregue un pie de página</a:t>
            </a:r>
          </a:p>
        </p:txBody>
      </p:sp>
      <p:sp>
        <p:nvSpPr>
          <p:cNvPr id="5" name="Marcador de posición de número de diapositiva 4">
            <a:extLst>
              <a:ext uri="{FF2B5EF4-FFF2-40B4-BE49-F238E27FC236}">
                <a16:creationId xmlns:a16="http://schemas.microsoft.com/office/drawing/2014/main" id="{0505ED12-A431-4761-87A4-F05164BE0221}"/>
              </a:ext>
            </a:extLst>
          </p:cNvPr>
          <p:cNvSpPr>
            <a:spLocks noGrp="1"/>
          </p:cNvSpPr>
          <p:nvPr>
            <p:ph type="sldNum" sz="quarter" idx="33"/>
          </p:nvPr>
        </p:nvSpPr>
        <p:spPr/>
        <p:txBody>
          <a:bodyPr rtlCol="0"/>
          <a:lstStyle/>
          <a:p>
            <a:pPr rtl="0"/>
            <a:fld id="{19B51A1E-902D-48AF-9020-955120F399B6}" type="slidenum">
              <a:rPr lang="es-ES" noProof="0" smtClean="0"/>
              <a:pPr rtl="0"/>
              <a:t>‹Nº›</a:t>
            </a:fld>
            <a:endParaRPr lang="es-ES" noProof="0"/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1508F53F-6AA2-4060-904A-BC90211DC043}"/>
              </a:ext>
            </a:extLst>
          </p:cNvPr>
          <p:cNvSpPr/>
          <p:nvPr userDrawn="1"/>
        </p:nvSpPr>
        <p:spPr>
          <a:xfrm>
            <a:off x="9348589" y="3700775"/>
            <a:ext cx="2411412" cy="114824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/>
            <a:endParaRPr lang="es-ES" sz="1350" noProof="0"/>
          </a:p>
        </p:txBody>
      </p:sp>
    </p:spTree>
    <p:extLst>
      <p:ext uri="{BB962C8B-B14F-4D97-AF65-F5344CB8AC3E}">
        <p14:creationId xmlns:p14="http://schemas.microsoft.com/office/powerpoint/2010/main" val="65755378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.jp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3.xml"/><Relationship Id="rId5" Type="http://schemas.openxmlformats.org/officeDocument/2006/relationships/hyperlink" Target="https://rincondelemprendedor.es/sistemas-de-gestion-de-la-calidad-cooperativos/" TargetMode="External"/><Relationship Id="rId4" Type="http://schemas.openxmlformats.org/officeDocument/2006/relationships/image" Target="../media/image4.jp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3.xml"/><Relationship Id="rId5" Type="http://schemas.openxmlformats.org/officeDocument/2006/relationships/hyperlink" Target="https://rincondelemprendedor.es/sistemas-de-gestion-de-la-calidad-cooperativos/" TargetMode="External"/><Relationship Id="rId4" Type="http://schemas.openxmlformats.org/officeDocument/2006/relationships/image" Target="../media/image4.jp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3.xml"/><Relationship Id="rId5" Type="http://schemas.openxmlformats.org/officeDocument/2006/relationships/hyperlink" Target="https://rincondelemprendedor.es/sistemas-de-gestion-de-la-calidad-cooperativos/" TargetMode="External"/><Relationship Id="rId4" Type="http://schemas.openxmlformats.org/officeDocument/2006/relationships/image" Target="../media/image4.jp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3.xml"/><Relationship Id="rId5" Type="http://schemas.openxmlformats.org/officeDocument/2006/relationships/hyperlink" Target="https://rincondelemprendedor.es/sistemas-de-gestion-de-la-calidad-cooperativos/" TargetMode="External"/><Relationship Id="rId4" Type="http://schemas.openxmlformats.org/officeDocument/2006/relationships/image" Target="../media/image4.jp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3.xml"/><Relationship Id="rId5" Type="http://schemas.openxmlformats.org/officeDocument/2006/relationships/hyperlink" Target="https://rincondelemprendedor.es/sistemas-de-gestion-de-la-calidad-cooperativos/" TargetMode="External"/><Relationship Id="rId4" Type="http://schemas.openxmlformats.org/officeDocument/2006/relationships/image" Target="../media/image4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Marcador de posición de imagen 11" descr="Manos que se unen en un círculo">
            <a:extLst>
              <a:ext uri="{FF2B5EF4-FFF2-40B4-BE49-F238E27FC236}">
                <a16:creationId xmlns:a16="http://schemas.microsoft.com/office/drawing/2014/main" id="{AA8A1CBA-9BB5-2246-9F4B-98EAD7C90158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/>
      </p:pic>
      <p:sp>
        <p:nvSpPr>
          <p:cNvPr id="3" name="Título 2">
            <a:extLst>
              <a:ext uri="{FF2B5EF4-FFF2-40B4-BE49-F238E27FC236}">
                <a16:creationId xmlns:a16="http://schemas.microsoft.com/office/drawing/2014/main" id="{200B3D2B-613A-41BE-987D-E6A1324B456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625008" y="3007184"/>
            <a:ext cx="6042992" cy="843632"/>
          </a:xfrm>
        </p:spPr>
        <p:txBody>
          <a:bodyPr rtlCol="0"/>
          <a:lstStyle/>
          <a:p>
            <a:pPr algn="ctr"/>
            <a:br>
              <a:rPr lang="es-ES" sz="2550" b="0" dirty="0"/>
            </a:br>
            <a:r>
              <a:rPr lang="es-ES" dirty="0">
                <a:solidFill>
                  <a:schemeClr val="accent1"/>
                </a:solidFill>
              </a:rPr>
              <a:t>ADITEC    ECUATORIANA     CIA.    LTDA</a:t>
            </a:r>
          </a:p>
        </p:txBody>
      </p:sp>
      <p:pic>
        <p:nvPicPr>
          <p:cNvPr id="6" name="Imagen 5" descr="Logotipo, nombre de la empresa&#10;&#10;Descripción generada automáticamente">
            <a:extLst>
              <a:ext uri="{FF2B5EF4-FFF2-40B4-BE49-F238E27FC236}">
                <a16:creationId xmlns:a16="http://schemas.microsoft.com/office/drawing/2014/main" id="{C5EFEFF1-08C5-4433-AD31-5D433404935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4148" y="4323073"/>
            <a:ext cx="2333320" cy="164790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</p:spTree>
    <p:extLst>
      <p:ext uri="{BB962C8B-B14F-4D97-AF65-F5344CB8AC3E}">
        <p14:creationId xmlns:p14="http://schemas.microsoft.com/office/powerpoint/2010/main" val="258170998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Marcador de posición de imagen 8" descr="Una mano tocando un teléfono móvil">
            <a:extLst>
              <a:ext uri="{FF2B5EF4-FFF2-40B4-BE49-F238E27FC236}">
                <a16:creationId xmlns:a16="http://schemas.microsoft.com/office/drawing/2014/main" id="{A9A75888-22E3-1D43-9112-DA02186070B5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524000" y="857252"/>
            <a:ext cx="4572000" cy="4778513"/>
          </a:xfrm>
        </p:spPr>
      </p:pic>
      <p:sp>
        <p:nvSpPr>
          <p:cNvPr id="20" name="Rectángulo 19" descr="Bloque de énfasis">
            <a:extLst>
              <a:ext uri="{FF2B5EF4-FFF2-40B4-BE49-F238E27FC236}">
                <a16:creationId xmlns:a16="http://schemas.microsoft.com/office/drawing/2014/main" id="{EFA08948-2B6F-46B1-9D2D-8D7B2B3FBD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535442" y="3623306"/>
            <a:ext cx="1808559" cy="8611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/>
            <a:endParaRPr lang="es-ES" sz="135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3560F281-4FF6-4617-A809-AC9C15ECF1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es-ES" sz="3900" dirty="0"/>
              <a:t>Nuestra misión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611DC577-0A95-47D0-95D9-5F8DA763D46B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6857850" y="4448175"/>
            <a:ext cx="3486150" cy="872100"/>
          </a:xfrm>
        </p:spPr>
        <p:txBody>
          <a:bodyPr rtlCol="0">
            <a:normAutofit fontScale="85000" lnSpcReduction="20000"/>
          </a:bodyPr>
          <a:lstStyle/>
          <a:p>
            <a:pPr algn="just"/>
            <a:r>
              <a:rPr lang="es-ES" sz="1200" dirty="0"/>
              <a:t>Fabricamos productos químicos para la construcción, solucionando las necesidades del mercado, enfocados en la innovación, servicio y ética ambiental para crear un futuro sostenible.</a:t>
            </a:r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1C554D9F-1895-486E-BFBA-905BB2D29E08}"/>
              </a:ext>
            </a:extLst>
          </p:cNvPr>
          <p:cNvSpPr>
            <a:spLocks noGrp="1"/>
          </p:cNvSpPr>
          <p:nvPr>
            <p:ph type="sldNum" sz="quarter" idx="33"/>
          </p:nvPr>
        </p:nvSpPr>
        <p:spPr/>
        <p:txBody>
          <a:bodyPr rtlCol="0"/>
          <a:lstStyle/>
          <a:p>
            <a:pPr rtl="0"/>
            <a:fld id="{19B51A1E-902D-48AF-9020-955120F399B6}" type="slidenum">
              <a:rPr lang="es-ES" smtClean="0"/>
              <a:pPr rtl="0"/>
              <a:t>2</a:t>
            </a:fld>
            <a:endParaRPr lang="es-ES"/>
          </a:p>
        </p:txBody>
      </p:sp>
      <p:pic>
        <p:nvPicPr>
          <p:cNvPr id="4" name="Imagen 3" descr="Un dibujo de una cara feliz&#10;&#10;Descripción generada automáticamente con confianza baja">
            <a:extLst>
              <a:ext uri="{FF2B5EF4-FFF2-40B4-BE49-F238E27FC236}">
                <a16:creationId xmlns:a16="http://schemas.microsoft.com/office/drawing/2014/main" id="{CF841E55-2643-085C-07AF-616D9388678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837473B0-CC2E-450A-ABE3-18F120FF3D39}">
                <a1611:picAttrSrcUrl xmlns:a1611="http://schemas.microsoft.com/office/drawing/2016/11/main" r:id="rId5"/>
              </a:ext>
            </a:extLst>
          </a:blip>
          <a:stretch>
            <a:fillRect/>
          </a:stretch>
        </p:blipFill>
        <p:spPr>
          <a:xfrm>
            <a:off x="8956538" y="924741"/>
            <a:ext cx="1387463" cy="12259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937448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Marcador de posición de imagen 8" descr="Una mano tocando un teléfono móvil">
            <a:extLst>
              <a:ext uri="{FF2B5EF4-FFF2-40B4-BE49-F238E27FC236}">
                <a16:creationId xmlns:a16="http://schemas.microsoft.com/office/drawing/2014/main" id="{A9A75888-22E3-1D43-9112-DA02186070B5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524000" y="857252"/>
            <a:ext cx="4572000" cy="4778513"/>
          </a:xfrm>
        </p:spPr>
      </p:pic>
      <p:sp>
        <p:nvSpPr>
          <p:cNvPr id="20" name="Rectángulo 19" descr="Bloque de énfasis">
            <a:extLst>
              <a:ext uri="{FF2B5EF4-FFF2-40B4-BE49-F238E27FC236}">
                <a16:creationId xmlns:a16="http://schemas.microsoft.com/office/drawing/2014/main" id="{EFA08948-2B6F-46B1-9D2D-8D7B2B3FBD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535442" y="3623306"/>
            <a:ext cx="1808559" cy="8611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/>
            <a:endParaRPr lang="es-ES" sz="135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3560F281-4FF6-4617-A809-AC9C15ECF1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es-ES" sz="3900" dirty="0"/>
              <a:t>Nuestra visión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611DC577-0A95-47D0-95D9-5F8DA763D46B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6857850" y="4448175"/>
            <a:ext cx="3486150" cy="872100"/>
          </a:xfrm>
        </p:spPr>
        <p:txBody>
          <a:bodyPr rtlCol="0">
            <a:normAutofit fontScale="85000" lnSpcReduction="10000"/>
          </a:bodyPr>
          <a:lstStyle/>
          <a:p>
            <a:pPr algn="just"/>
            <a:r>
              <a:rPr lang="es-ES" sz="1200" dirty="0"/>
              <a:t>Consolidar nuestra marca entre las líderes de productos químicos para el sector de la construcción en Ecuador y exportarlos dentro del Continente Americano.</a:t>
            </a:r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1C554D9F-1895-486E-BFBA-905BB2D29E08}"/>
              </a:ext>
            </a:extLst>
          </p:cNvPr>
          <p:cNvSpPr>
            <a:spLocks noGrp="1"/>
          </p:cNvSpPr>
          <p:nvPr>
            <p:ph type="sldNum" sz="quarter" idx="33"/>
          </p:nvPr>
        </p:nvSpPr>
        <p:spPr/>
        <p:txBody>
          <a:bodyPr rtlCol="0"/>
          <a:lstStyle/>
          <a:p>
            <a:pPr rtl="0"/>
            <a:fld id="{19B51A1E-902D-48AF-9020-955120F399B6}" type="slidenum">
              <a:rPr lang="es-ES" smtClean="0"/>
              <a:pPr rtl="0"/>
              <a:t>3</a:t>
            </a:fld>
            <a:endParaRPr lang="es-ES"/>
          </a:p>
        </p:txBody>
      </p:sp>
      <p:pic>
        <p:nvPicPr>
          <p:cNvPr id="4" name="Imagen 3" descr="Un dibujo de una cara feliz&#10;&#10;Descripción generada automáticamente con confianza baja">
            <a:extLst>
              <a:ext uri="{FF2B5EF4-FFF2-40B4-BE49-F238E27FC236}">
                <a16:creationId xmlns:a16="http://schemas.microsoft.com/office/drawing/2014/main" id="{AA591CD1-302E-E0DB-F3BF-7EBF5395E31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837473B0-CC2E-450A-ABE3-18F120FF3D39}">
                <a1611:picAttrSrcUrl xmlns:a1611="http://schemas.microsoft.com/office/drawing/2016/11/main" r:id="rId5"/>
              </a:ext>
            </a:extLst>
          </a:blip>
          <a:stretch>
            <a:fillRect/>
          </a:stretch>
        </p:blipFill>
        <p:spPr>
          <a:xfrm>
            <a:off x="9118538" y="1051073"/>
            <a:ext cx="1387463" cy="12259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88739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Marcador de posición de imagen 8" descr="Una mano tocando un teléfono móvil">
            <a:extLst>
              <a:ext uri="{FF2B5EF4-FFF2-40B4-BE49-F238E27FC236}">
                <a16:creationId xmlns:a16="http://schemas.microsoft.com/office/drawing/2014/main" id="{A9A75888-22E3-1D43-9112-DA02186070B5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524000" y="857252"/>
            <a:ext cx="4572000" cy="4778513"/>
          </a:xfrm>
        </p:spPr>
      </p:pic>
      <p:sp>
        <p:nvSpPr>
          <p:cNvPr id="20" name="Rectángulo 19" descr="Bloque de énfasis">
            <a:extLst>
              <a:ext uri="{FF2B5EF4-FFF2-40B4-BE49-F238E27FC236}">
                <a16:creationId xmlns:a16="http://schemas.microsoft.com/office/drawing/2014/main" id="{EFA08948-2B6F-46B1-9D2D-8D7B2B3FBD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535442" y="3623306"/>
            <a:ext cx="1808559" cy="8611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/>
            <a:endParaRPr lang="es-ES" sz="135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3560F281-4FF6-4617-A809-AC9C15ECF1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es-ES" sz="3900" dirty="0"/>
              <a:t>Valores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611DC577-0A95-47D0-95D9-5F8DA763D46B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6857850" y="4448175"/>
            <a:ext cx="3486150" cy="1187588"/>
          </a:xfrm>
        </p:spPr>
        <p:txBody>
          <a:bodyPr rtlCol="0">
            <a:normAutofit lnSpcReduction="10000"/>
          </a:bodyPr>
          <a:lstStyle/>
          <a:p>
            <a:pPr marL="257175" indent="-257175" algn="just">
              <a:buFont typeface="+mj-lt"/>
              <a:buAutoNum type="arabicPeriod"/>
            </a:pPr>
            <a:r>
              <a:rPr lang="es-ES" sz="1200" dirty="0"/>
              <a:t>Hacer siempre lo correcto.</a:t>
            </a:r>
          </a:p>
          <a:p>
            <a:pPr marL="257175" indent="-257175" algn="just">
              <a:buFont typeface="+mj-lt"/>
              <a:buAutoNum type="arabicPeriod"/>
            </a:pPr>
            <a:r>
              <a:rPr lang="es-ES" sz="1200" dirty="0"/>
              <a:t>Entusiasmo por nuestro trabajo.</a:t>
            </a:r>
          </a:p>
          <a:p>
            <a:pPr marL="257175" indent="-257175" algn="just">
              <a:buFont typeface="+mj-lt"/>
              <a:buAutoNum type="arabicPeriod"/>
            </a:pPr>
            <a:r>
              <a:rPr lang="es-ES" sz="1200" dirty="0"/>
              <a:t>Enfoque al cliente.</a:t>
            </a:r>
          </a:p>
          <a:p>
            <a:pPr marL="257175" indent="-257175" algn="just">
              <a:buFont typeface="+mj-lt"/>
              <a:buAutoNum type="arabicPeriod"/>
            </a:pPr>
            <a:r>
              <a:rPr lang="es-ES" sz="1200" dirty="0"/>
              <a:t>Adaptabilidad a los cambios</a:t>
            </a:r>
          </a:p>
          <a:p>
            <a:pPr algn="just"/>
            <a:endParaRPr lang="es-ES" sz="1200" dirty="0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1C554D9F-1895-486E-BFBA-905BB2D29E08}"/>
              </a:ext>
            </a:extLst>
          </p:cNvPr>
          <p:cNvSpPr>
            <a:spLocks noGrp="1"/>
          </p:cNvSpPr>
          <p:nvPr>
            <p:ph type="sldNum" sz="quarter" idx="33"/>
          </p:nvPr>
        </p:nvSpPr>
        <p:spPr/>
        <p:txBody>
          <a:bodyPr rtlCol="0"/>
          <a:lstStyle/>
          <a:p>
            <a:pPr rtl="0"/>
            <a:fld id="{19B51A1E-902D-48AF-9020-955120F399B6}" type="slidenum">
              <a:rPr lang="es-ES" smtClean="0"/>
              <a:pPr rtl="0"/>
              <a:t>4</a:t>
            </a:fld>
            <a:endParaRPr lang="es-ES"/>
          </a:p>
        </p:txBody>
      </p:sp>
      <p:pic>
        <p:nvPicPr>
          <p:cNvPr id="4" name="Imagen 3" descr="Un dibujo de una cara feliz&#10;&#10;Descripción generada automáticamente con confianza baja">
            <a:extLst>
              <a:ext uri="{FF2B5EF4-FFF2-40B4-BE49-F238E27FC236}">
                <a16:creationId xmlns:a16="http://schemas.microsoft.com/office/drawing/2014/main" id="{E3018A5B-28E0-7339-5783-79307CB2039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837473B0-CC2E-450A-ABE3-18F120FF3D39}">
                <a1611:picAttrSrcUrl xmlns:a1611="http://schemas.microsoft.com/office/drawing/2016/11/main" r:id="rId5"/>
              </a:ext>
            </a:extLst>
          </a:blip>
          <a:stretch>
            <a:fillRect/>
          </a:stretch>
        </p:blipFill>
        <p:spPr>
          <a:xfrm>
            <a:off x="9118538" y="996931"/>
            <a:ext cx="1387463" cy="12259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2819934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3D761F-C0C8-78D8-3B37-AE49896127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Marcador de posición de imagen 8" descr="Una mano tocando un teléfono móvil">
            <a:extLst>
              <a:ext uri="{FF2B5EF4-FFF2-40B4-BE49-F238E27FC236}">
                <a16:creationId xmlns:a16="http://schemas.microsoft.com/office/drawing/2014/main" id="{92D707F0-4853-1DC4-0140-74DC95B80DB1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524000" y="857252"/>
            <a:ext cx="4572000" cy="4778513"/>
          </a:xfrm>
        </p:spPr>
      </p:pic>
      <p:sp>
        <p:nvSpPr>
          <p:cNvPr id="20" name="Rectángulo 19" descr="Bloque de énfasis">
            <a:extLst>
              <a:ext uri="{FF2B5EF4-FFF2-40B4-BE49-F238E27FC236}">
                <a16:creationId xmlns:a16="http://schemas.microsoft.com/office/drawing/2014/main" id="{880518E2-9798-000B-D09C-E21B1763D6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535442" y="3623306"/>
            <a:ext cx="1808559" cy="8611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/>
            <a:endParaRPr lang="es-ES" sz="135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E08ADC7B-DD0B-679B-EA7E-9906C0DB56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>
            <a:normAutofit fontScale="90000"/>
          </a:bodyPr>
          <a:lstStyle/>
          <a:p>
            <a:pPr rtl="0"/>
            <a:r>
              <a:rPr lang="es-EC" sz="3900" dirty="0"/>
              <a:t>Manejo y uso de Google Gemini</a:t>
            </a:r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8FD78BAD-AEA1-041D-00BC-658EA8A0A322}"/>
              </a:ext>
            </a:extLst>
          </p:cNvPr>
          <p:cNvSpPr>
            <a:spLocks noGrp="1"/>
          </p:cNvSpPr>
          <p:nvPr>
            <p:ph type="sldNum" sz="quarter" idx="33"/>
          </p:nvPr>
        </p:nvSpPr>
        <p:spPr/>
        <p:txBody>
          <a:bodyPr rtlCol="0"/>
          <a:lstStyle/>
          <a:p>
            <a:pPr rtl="0"/>
            <a:fld id="{19B51A1E-902D-48AF-9020-955120F399B6}" type="slidenum">
              <a:rPr lang="es-ES" smtClean="0"/>
              <a:pPr rtl="0"/>
              <a:t>5</a:t>
            </a:fld>
            <a:endParaRPr lang="es-ES"/>
          </a:p>
        </p:txBody>
      </p:sp>
      <p:pic>
        <p:nvPicPr>
          <p:cNvPr id="4" name="Imagen 3" descr="Un dibujo de una cara feliz&#10;&#10;Descripción generada automáticamente con confianza baja">
            <a:extLst>
              <a:ext uri="{FF2B5EF4-FFF2-40B4-BE49-F238E27FC236}">
                <a16:creationId xmlns:a16="http://schemas.microsoft.com/office/drawing/2014/main" id="{1677FFA7-0D15-F340-8ABA-789BC46177E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837473B0-CC2E-450A-ABE3-18F120FF3D39}">
                <a1611:picAttrSrcUrl xmlns:a1611="http://schemas.microsoft.com/office/drawing/2016/11/main" r:id="rId5"/>
              </a:ext>
            </a:extLst>
          </a:blip>
          <a:stretch>
            <a:fillRect/>
          </a:stretch>
        </p:blipFill>
        <p:spPr>
          <a:xfrm>
            <a:off x="9118538" y="996931"/>
            <a:ext cx="1387463" cy="12259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5407346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A52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DB26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FB8DC"/>
                </a:solidFill>
                <a:latin typeface="Calibri"/>
              </a:rPr>
              <a:t>MAPA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Qué vamos a aprender a usar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71600"/>
            <a:ext cx="11155680" cy="777240"/>
          </a:xfrm>
          <a:prstGeom prst="round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85800" y="1536192"/>
            <a:ext cx="1005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DB261D"/>
                </a:solidFill>
                <a:latin typeface="Calibri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1572768"/>
            <a:ext cx="749807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A529C"/>
                </a:solidFill>
                <a:latin typeface="Calibri"/>
              </a:rPr>
              <a:t>Cómo entrar y reconocer la pantalla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92640" y="1591056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0">
                <a:solidFill>
                  <a:srgbClr val="5D6D7E"/>
                </a:solidFill>
                <a:latin typeface="Calibri"/>
              </a:rPr>
              <a:t>2 min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2286000"/>
            <a:ext cx="11155680" cy="777240"/>
          </a:xfrm>
          <a:prstGeom prst="round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85800" y="2450592"/>
            <a:ext cx="1005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DB261D"/>
                </a:solidFill>
                <a:latin typeface="Calibri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2487168"/>
            <a:ext cx="749807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A529C"/>
                </a:solidFill>
                <a:latin typeface="Calibri"/>
              </a:rPr>
              <a:t>Cómo escribir una instrucción que sirva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92640" y="2505456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0">
                <a:solidFill>
                  <a:srgbClr val="5D6D7E"/>
                </a:solidFill>
                <a:latin typeface="Calibri"/>
              </a:rPr>
              <a:t>4 min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3200400"/>
            <a:ext cx="11155680" cy="777240"/>
          </a:xfrm>
          <a:prstGeom prst="round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85800" y="3364992"/>
            <a:ext cx="1005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DB261D"/>
                </a:solidFill>
                <a:latin typeface="Calibri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3401568"/>
            <a:ext cx="749807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A529C"/>
                </a:solidFill>
                <a:latin typeface="Calibri"/>
              </a:rPr>
              <a:t>Archivos, Drive y funciones clave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92640" y="3419856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0">
                <a:solidFill>
                  <a:srgbClr val="5D6D7E"/>
                </a:solidFill>
                <a:latin typeface="Calibri"/>
              </a:rPr>
              <a:t>4 min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4114800"/>
            <a:ext cx="11155680" cy="777240"/>
          </a:xfrm>
          <a:prstGeom prst="round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85800" y="4279392"/>
            <a:ext cx="1005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DB261D"/>
                </a:solidFill>
                <a:latin typeface="Calibri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28800" y="4315968"/>
            <a:ext cx="749807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A529C"/>
                </a:solidFill>
                <a:latin typeface="Calibri"/>
              </a:rPr>
              <a:t>Recorrido práctico de uso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92640" y="4334256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0">
                <a:solidFill>
                  <a:srgbClr val="5D6D7E"/>
                </a:solidFill>
                <a:latin typeface="Calibri"/>
              </a:rPr>
              <a:t>3 min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5029200"/>
            <a:ext cx="11155680" cy="777240"/>
          </a:xfrm>
          <a:prstGeom prst="round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85800" y="5193792"/>
            <a:ext cx="1005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DB261D"/>
                </a:solidFill>
                <a:latin typeface="Calibri"/>
              </a:rPr>
              <a:t>05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28800" y="5230368"/>
            <a:ext cx="749807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A529C"/>
                </a:solidFill>
                <a:latin typeface="Calibri"/>
              </a:rPr>
              <a:t>Cuidados al usar la herramienta y preguntas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92640" y="5248656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0">
                <a:solidFill>
                  <a:srgbClr val="5D6D7E"/>
                </a:solidFill>
                <a:latin typeface="Calibri"/>
              </a:rPr>
              <a:t>2 min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547104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Manejo y uso de Google Gemini  ·  Sesión práctica de 15 minutos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07040" y="654710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Calibri"/>
              </a:rPr>
              <a:t>2  /  11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A52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DB26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FB8DC"/>
                </a:solidFill>
                <a:latin typeface="Calibri"/>
              </a:rPr>
              <a:t>PRIMER PASO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Cómo entrar a Google Gemini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325880"/>
            <a:ext cx="3703320" cy="4800600"/>
          </a:xfrm>
          <a:prstGeom prst="round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76072" y="1435608"/>
            <a:ext cx="3429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A529C"/>
                </a:solidFill>
                <a:latin typeface="Calibri"/>
              </a:rPr>
              <a:t>1. Abrir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72" y="1783080"/>
            <a:ext cx="3374136" cy="4233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1C2833"/>
                </a:solidFill>
                <a:latin typeface="Calibri"/>
              </a:rPr>
              <a:t>En el computador: gemini.google.com
En el celular: aplicación Gemini (Android o iOS).
Inicie sesión con su cuenta de Google institucional, si TI así lo definió.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51960" y="1325880"/>
            <a:ext cx="3703320" cy="4800600"/>
          </a:xfrm>
          <a:prstGeom prst="round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416552" y="1435608"/>
            <a:ext cx="3429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DB261D"/>
                </a:solidFill>
                <a:latin typeface="Calibri"/>
              </a:rPr>
              <a:t>2. Qué verá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16552" y="1783080"/>
            <a:ext cx="3374136" cy="4233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1C2833"/>
                </a:solidFill>
                <a:latin typeface="Calibri"/>
              </a:rPr>
              <a:t>Arriba o a la izquierda: chats anteriores.
Al centro: caja para escribir.
Junto a la caja: botón para adjuntar archivos y herramientas (Deep Research, Canvas, etc.).
Cada conversación es un hilo. Puede volver a ella.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92440" y="1325880"/>
            <a:ext cx="3703320" cy="4800600"/>
          </a:xfrm>
          <a:prstGeom prst="roundRect">
            <a:avLst/>
          </a:prstGeom>
          <a:solidFill>
            <a:srgbClr val="F2F2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257032" y="1435608"/>
            <a:ext cx="3429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A529C"/>
                </a:solidFill>
                <a:latin typeface="Calibri"/>
              </a:rPr>
              <a:t>3. Antes de escribir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57032" y="1783080"/>
            <a:ext cx="3374136" cy="4233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1C2833"/>
                </a:solidFill>
                <a:latin typeface="Calibri"/>
              </a:rPr>
              <a:t>Revise que está en la cuenta correcta.
Un chat nuevo = un tema nuevo. Así no mezcla un procedimiento con un correo personal.
Si la empresa tiene Gemini en Workspace, úselo ahí para Gmail, Docs y Drive.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6547104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Manejo y uso de Google Gemini  ·  Sesión práctica de 15 minutos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7040" y="654710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Calibri"/>
              </a:rPr>
              <a:t>3  /  11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A52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DB26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FB8DC"/>
                </a:solidFill>
                <a:latin typeface="Calibri"/>
              </a:rPr>
              <a:t>EL CORAZÓN DE LA HERRAMIENTA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Cómo pedirle trabajo (la instrucción)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280160"/>
            <a:ext cx="11247120" cy="822960"/>
          </a:xfrm>
          <a:prstGeom prst="round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1463039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DB261D"/>
                </a:solidFill>
                <a:latin typeface="Calibri"/>
              </a:rPr>
              <a:t>1. Diga el rol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49039" y="1481328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C2833"/>
                </a:solidFill>
                <a:latin typeface="Calibri"/>
              </a:rPr>
              <a:t>«Actúa como analista de sistemas» o «explica para un usuario no técnico».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194560"/>
            <a:ext cx="11247120" cy="822960"/>
          </a:xfrm>
          <a:prstGeom prst="round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0080" y="237744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DB261D"/>
                </a:solidFill>
                <a:latin typeface="Calibri"/>
              </a:rPr>
              <a:t>2. Diga el objetivo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49039" y="2395728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C2833"/>
                </a:solidFill>
                <a:latin typeface="Calibri"/>
              </a:rPr>
              <a:t>Resumir, redactar, comparar, armar pasos, corregir, traducir.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3108960"/>
            <a:ext cx="11247120" cy="822960"/>
          </a:xfrm>
          <a:prstGeom prst="round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0080" y="329184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DB261D"/>
                </a:solidFill>
                <a:latin typeface="Calibri"/>
              </a:rPr>
              <a:t>3. Entregue el material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49039" y="3310128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C2833"/>
                </a:solidFill>
                <a:latin typeface="Calibri"/>
              </a:rPr>
              <a:t>Pegue el texto o adjunte el archivo. Sin datos, Gemini inventa.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4023360"/>
            <a:ext cx="11247120" cy="822960"/>
          </a:xfrm>
          <a:prstGeom prst="round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0080" y="420624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DB261D"/>
                </a:solidFill>
                <a:latin typeface="Calibri"/>
              </a:rPr>
              <a:t>4. Pida el formato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49039" y="4224528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C2833"/>
                </a:solidFill>
                <a:latin typeface="Calibri"/>
              </a:rPr>
              <a:t>Lista, tabla, correo, 8 viñetas, procedimiento de 12 pasos.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4937760"/>
            <a:ext cx="11247120" cy="822960"/>
          </a:xfrm>
          <a:prstGeom prst="round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40080" y="512064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DB261D"/>
                </a:solidFill>
                <a:latin typeface="Calibri"/>
              </a:rPr>
              <a:t>5. Ponga un límite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49039" y="5138928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C2833"/>
                </a:solidFill>
                <a:latin typeface="Calibri"/>
              </a:rPr>
              <a:t>«No inventes datos que no estén en el archivo. Si falta algo, dímelo».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6547104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Manejo y uso de Google Gemini  ·  Sesión práctica de 15 minutos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7040" y="654710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Calibri"/>
              </a:rPr>
              <a:t>4  /  11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A52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DB26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FB8DC"/>
                </a:solidFill>
                <a:latin typeface="Calibri"/>
              </a:rPr>
              <a:t>EJEMPLO PARA COPIAR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Una instrucción débil vs una que sí se puede usar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325880"/>
            <a:ext cx="5532120" cy="4800600"/>
          </a:xfrm>
          <a:prstGeom prst="roundRect">
            <a:avLst/>
          </a:prstGeom>
          <a:solidFill>
            <a:srgbClr val="F8D4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DB261D"/>
                </a:solidFill>
                <a:latin typeface="Calibri"/>
              </a:rPr>
              <a:t>Poco útil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57400"/>
            <a:ext cx="507492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1C2833"/>
                </a:solidFill>
                <a:latin typeface="Calibri"/>
              </a:rPr>
              <a:t>«Háblame de Gemini.»
«Hazme un procedimiento.»
«Resume esto.»  (sin adjuntar nada)
Resultado: texto genérico, largo y difícil de aplicar.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325880"/>
            <a:ext cx="5532120" cy="4800600"/>
          </a:xfrm>
          <a:prstGeom prst="round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46520" y="1508760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DB261D"/>
                </a:solidFill>
                <a:latin typeface="Calibri"/>
              </a:rPr>
              <a:t>Útil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46520" y="2057400"/>
            <a:ext cx="507492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1C2833"/>
                </a:solidFill>
                <a:latin typeface="Calibri"/>
              </a:rPr>
              <a:t>«Eres asistente de TI. Con el PDF adjunto, arma un resumen de 8 viñetas para el usuario final. Luego un correo corto de convocatoria. No agregues pasos que no estén en el documento. Marca con «Falta dato» lo que no aparezca.»
Resultado: un borrador revisable en minutos.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547104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Manejo y uso de Google Gemini  ·  Sesión práctica de 15 minutos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07040" y="654710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Calibri"/>
              </a:rPr>
              <a:t>5  /  11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A52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DB26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FB8DC"/>
                </a:solidFill>
                <a:latin typeface="Calibri"/>
              </a:rPr>
              <a:t>TRAER SU MATERIAL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Cómo adjuntar archivos y usar Drive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80160"/>
            <a:ext cx="112471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>
                <a:solidFill>
                  <a:srgbClr val="1C2833"/>
                </a:solidFill>
                <a:latin typeface="Calibri"/>
              </a:rPr>
              <a:t>•  En la caja de texto, pulse el ícono de adjuntar (clip o «Añadir archivos»).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1C2833"/>
                </a:solidFill>
                <a:latin typeface="Calibri"/>
              </a:rPr>
              <a:t>•  Puede subir PDF, Word, imágenes, hojas de cálculo o capturas de pantalla.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1C2833"/>
                </a:solidFill>
                <a:latin typeface="Calibri"/>
              </a:rPr>
              <a:t>•  También puede tomar un archivo desde Google Drive, si la cuenta está conectada.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1C2833"/>
                </a:solidFill>
                <a:latin typeface="Calibri"/>
              </a:rPr>
              <a:t>•  Después de adjuntar, escriba qué quiere que haga con ese archivo: resumir, extraer pasos, comparar, armar checklist.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3657600"/>
            <a:ext cx="3703320" cy="2468880"/>
          </a:xfrm>
          <a:prstGeom prst="round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76072" y="3767328"/>
            <a:ext cx="3429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A529C"/>
                </a:solidFill>
                <a:latin typeface="Calibri"/>
              </a:rPr>
              <a:t>Imagen o captura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72" y="4114800"/>
            <a:ext cx="3374136" cy="1901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1C2833"/>
                </a:solidFill>
                <a:latin typeface="Calibri"/>
              </a:rPr>
              <a:t>«¿Qué dice esta pantalla?» «Lista los campos del formulario.» Útil para tickets y errores.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51960" y="3657600"/>
            <a:ext cx="3703320" cy="2468880"/>
          </a:xfrm>
          <a:prstGeom prst="round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416552" y="3767328"/>
            <a:ext cx="3429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DB261D"/>
                </a:solidFill>
                <a:latin typeface="Calibri"/>
              </a:rPr>
              <a:t>PDF o procedimiento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16552" y="4114800"/>
            <a:ext cx="3374136" cy="1901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1C2833"/>
                </a:solidFill>
                <a:latin typeface="Calibri"/>
              </a:rPr>
              <a:t>«Convierte esto en pasos numerados y responsables.» Ideal para TI-PRO y actas.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92440" y="3657600"/>
            <a:ext cx="3703320" cy="2468880"/>
          </a:xfrm>
          <a:prstGeom prst="roundRect">
            <a:avLst/>
          </a:prstGeom>
          <a:solidFill>
            <a:srgbClr val="F2F2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257032" y="3767328"/>
            <a:ext cx="3429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A529C"/>
                </a:solidFill>
                <a:latin typeface="Calibri"/>
              </a:rPr>
              <a:t>Hoja o listado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57032" y="4114800"/>
            <a:ext cx="3374136" cy="1901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1C2833"/>
                </a:solidFill>
                <a:latin typeface="Calibri"/>
              </a:rPr>
              <a:t>«Encuentra duplicados, fechas vencidas o equipos sin usuario.» Revise siempre las cifras.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6547104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Manejo y uso de Google Gemini  ·  Sesión práctica de 15 minutos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07040" y="654710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Calibri"/>
              </a:rPr>
              <a:t>6  /  11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A52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DB26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FB8DC"/>
                </a:solidFill>
                <a:latin typeface="Calibri"/>
              </a:rPr>
              <a:t>CAJA DE HERRAMIENTAS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Funciones de Gemini que sí conviene conocer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280160"/>
            <a:ext cx="5623560" cy="1417320"/>
          </a:xfrm>
          <a:prstGeom prst="round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76072" y="1389888"/>
            <a:ext cx="5349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A529C"/>
                </a:solidFill>
                <a:latin typeface="Calibri"/>
              </a:rPr>
              <a:t>Chat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72" y="1737360"/>
            <a:ext cx="5294376" cy="8503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1C2833"/>
                </a:solidFill>
                <a:latin typeface="Calibri"/>
              </a:rPr>
              <a:t>Conversación normal. Siga el hilo: corrija, acorte, cambie el tono o pida otra versión.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280160"/>
            <a:ext cx="5623560" cy="1417320"/>
          </a:xfrm>
          <a:prstGeom prst="round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28232" y="1389888"/>
            <a:ext cx="5349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DB261D"/>
                </a:solidFill>
                <a:latin typeface="Calibri"/>
              </a:rPr>
              <a:t>Deep Research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28232" y="1737360"/>
            <a:ext cx="5294376" cy="8503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1C2833"/>
                </a:solidFill>
                <a:latin typeface="Calibri"/>
              </a:rPr>
              <a:t>En la barra, elija Deep Research. Gemini arma un plan, busca fuentes y entrega un informe. Revise el plan antes de iniciar.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11480" y="2834639"/>
            <a:ext cx="5623560" cy="1417320"/>
          </a:xfrm>
          <a:prstGeom prst="round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76072" y="2944367"/>
            <a:ext cx="5349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A529C"/>
                </a:solidFill>
                <a:latin typeface="Calibri"/>
              </a:rPr>
              <a:t>Canvas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6072" y="3291839"/>
            <a:ext cx="5294376" cy="8503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1C2833"/>
                </a:solidFill>
                <a:latin typeface="Calibri"/>
              </a:rPr>
              <a:t>Espacio al lado del chat para redactar, editar o armar un entregable más largo (documento, esquema, código).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63640" y="2834639"/>
            <a:ext cx="5623560" cy="1417320"/>
          </a:xfrm>
          <a:prstGeom prst="round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28232" y="2944367"/>
            <a:ext cx="5349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DB261D"/>
                </a:solidFill>
                <a:latin typeface="Calibri"/>
              </a:rPr>
              <a:t>Gems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28232" y="3291839"/>
            <a:ext cx="5294376" cy="8503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1C2833"/>
                </a:solidFill>
                <a:latin typeface="Calibri"/>
              </a:rPr>
              <a:t>Menú Gems: cree un asistente con instrucciones fijas (ej. «redacta actas de TI»). Se reutiliza sin repetir el prompt.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11480" y="4389120"/>
            <a:ext cx="5623560" cy="1417320"/>
          </a:xfrm>
          <a:prstGeom prst="round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76072" y="4498848"/>
            <a:ext cx="5349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A529C"/>
                </a:solidFill>
                <a:latin typeface="Calibri"/>
              </a:rPr>
              <a:t>Gemini Live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76072" y="4846320"/>
            <a:ext cx="5294376" cy="8503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1C2833"/>
                </a:solidFill>
                <a:latin typeface="Calibri"/>
              </a:rPr>
              <a:t>En el celular: voz, cámara o pantalla. Útil para explicar un error en el equipo con las manos ocupadas.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63640" y="4389120"/>
            <a:ext cx="5623560" cy="1417320"/>
          </a:xfrm>
          <a:prstGeom prst="round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428232" y="4498848"/>
            <a:ext cx="5349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DB261D"/>
                </a:solidFill>
                <a:latin typeface="Calibri"/>
              </a:rPr>
              <a:t>Exportar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28232" y="4846320"/>
            <a:ext cx="5294376" cy="8503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1C2833"/>
                </a:solidFill>
                <a:latin typeface="Calibri"/>
              </a:rPr>
              <a:t>Muchas respuestas se pueden pasar a Docs, Gmail o copiar. Usted pule y envía; Gemini no envía solo.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5760" y="6547104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Manejo y uso de Google Gemini  ·  Sesión práctica de 15 minutos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07040" y="654710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Calibri"/>
              </a:rPr>
              <a:t>7  / 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A52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DB26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FB8DC"/>
                </a:solidFill>
                <a:latin typeface="Calibri"/>
              </a:rPr>
              <a:t>HÁGALO ASÍ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Recorrido de uso en 6 clics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280160"/>
            <a:ext cx="11247120" cy="731520"/>
          </a:xfrm>
          <a:prstGeom prst="round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1426463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DB261D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1463039"/>
            <a:ext cx="9875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C2833"/>
                </a:solidFill>
                <a:latin typeface="Calibri"/>
              </a:rPr>
              <a:t>Entre a gemini.google.com e inicie un chat nuevo.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084831"/>
            <a:ext cx="11247120" cy="731520"/>
          </a:xfrm>
          <a:prstGeom prst="round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0080" y="2231136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DB261D"/>
                </a:solidFill>
                <a:latin typeface="Calibr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2267712"/>
            <a:ext cx="9875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C2833"/>
                </a:solidFill>
                <a:latin typeface="Calibri"/>
              </a:rPr>
              <a:t>Adjunte el archivo o pegue el texto de trabajo.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889503"/>
            <a:ext cx="11247120" cy="731520"/>
          </a:xfrm>
          <a:prstGeom prst="round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0080" y="3035808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DB261D"/>
                </a:solidFill>
                <a:latin typeface="Calibri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63040" y="3072384"/>
            <a:ext cx="9875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C2833"/>
                </a:solidFill>
                <a:latin typeface="Calibri"/>
              </a:rPr>
              <a:t>Escriba rol + objetivo + formato + «no inventes».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694176"/>
            <a:ext cx="11247120" cy="731520"/>
          </a:xfrm>
          <a:prstGeom prst="round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0080" y="3840480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DB261D"/>
                </a:solidFill>
                <a:latin typeface="Calibri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63040" y="3877056"/>
            <a:ext cx="9875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C2833"/>
                </a:solidFill>
                <a:latin typeface="Calibri"/>
              </a:rPr>
              <a:t>Lea la respuesta. Pida ajuste: más corto, en tabla, en tono de correo.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4498848"/>
            <a:ext cx="11247120" cy="731520"/>
          </a:xfrm>
          <a:prstGeom prst="round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40080" y="4645152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DB261D"/>
                </a:solidFill>
                <a:latin typeface="Calibri"/>
              </a:rP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63040" y="4681728"/>
            <a:ext cx="9875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C2833"/>
                </a:solidFill>
                <a:latin typeface="Calibri"/>
              </a:rPr>
              <a:t>Copie o exporte. Corrija nombres, fechas y reglas de la empresa.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5303520"/>
            <a:ext cx="11247120" cy="731520"/>
          </a:xfrm>
          <a:prstGeom prst="round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40080" y="5449824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DB261D"/>
                </a:solidFill>
                <a:latin typeface="Calibri"/>
              </a:rPr>
              <a:t>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5486400"/>
            <a:ext cx="9875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C2833"/>
                </a:solidFill>
                <a:latin typeface="Calibri"/>
              </a:rPr>
              <a:t>Publique o envíe usted. Guarde el chat si el prompt quedó bueno.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5760" y="6547104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Manejo y uso de Google Gemini  ·  Sesión práctica de 15 minutos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07040" y="654710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Calibri"/>
              </a:rPr>
              <a:t>8  /  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A52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DB26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FB8DC"/>
                </a:solidFill>
                <a:latin typeface="Calibri"/>
              </a:rPr>
              <a:t>VALOR PARA EL USUARIO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Qué puede hacer hoy con la herramienta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1280160"/>
            <a:ext cx="3703320" cy="2148840"/>
          </a:xfrm>
          <a:prstGeom prst="round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30352" y="1389888"/>
            <a:ext cx="3429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A529C"/>
                </a:solidFill>
                <a:latin typeface="Calibri"/>
              </a:rPr>
              <a:t>Redactar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737360"/>
            <a:ext cx="3374136" cy="1581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1C2833"/>
                </a:solidFill>
                <a:latin typeface="Calibri"/>
              </a:rPr>
              <a:t>Correos, convocatorias, actas y el primer borrador de un procedimiento.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51960" y="1280160"/>
            <a:ext cx="3703320" cy="2148840"/>
          </a:xfrm>
          <a:prstGeom prst="round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416552" y="1389888"/>
            <a:ext cx="3429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A529C"/>
                </a:solidFill>
                <a:latin typeface="Calibri"/>
              </a:rPr>
              <a:t>Entender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16552" y="1737360"/>
            <a:ext cx="3374136" cy="1581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1C2833"/>
                </a:solidFill>
                <a:latin typeface="Calibri"/>
              </a:rPr>
              <a:t>Resumir un PDF largo, una política o un hilo de correos en 10 líneas.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38160" y="1280160"/>
            <a:ext cx="3703320" cy="2148840"/>
          </a:xfrm>
          <a:prstGeom prst="round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302752" y="1389888"/>
            <a:ext cx="3429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A529C"/>
                </a:solidFill>
                <a:latin typeface="Calibri"/>
              </a:rPr>
              <a:t>Preparar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02752" y="1737360"/>
            <a:ext cx="3374136" cy="1581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1C2833"/>
                </a:solidFill>
                <a:latin typeface="Calibri"/>
              </a:rPr>
              <a:t>Checklist de mantenimiento, preguntas para una reunión, guía para el usuario.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3611879"/>
            <a:ext cx="3703320" cy="2148840"/>
          </a:xfrm>
          <a:prstGeom prst="round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30352" y="3721607"/>
            <a:ext cx="3429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DB261D"/>
                </a:solidFill>
                <a:latin typeface="Calibri"/>
              </a:rPr>
              <a:t>Apoyar soporte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" y="4069079"/>
            <a:ext cx="3374136" cy="1581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1C2833"/>
                </a:solidFill>
                <a:latin typeface="Calibri"/>
              </a:rPr>
              <a:t>A partir de una captura: posibles causas y qué verificar (sin cerrar el ticket).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51960" y="3611879"/>
            <a:ext cx="3703320" cy="2148840"/>
          </a:xfrm>
          <a:prstGeom prst="round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416552" y="3721607"/>
            <a:ext cx="3429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DB261D"/>
                </a:solidFill>
                <a:latin typeface="Calibri"/>
              </a:rPr>
              <a:t>Traducir / adaptar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16552" y="4069079"/>
            <a:ext cx="3374136" cy="1581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1C2833"/>
                </a:solidFill>
                <a:latin typeface="Calibri"/>
              </a:rPr>
              <a:t>Pasar un texto técnico a lenguaje de personal administrativo o de campo.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38160" y="3611879"/>
            <a:ext cx="3703320" cy="2148840"/>
          </a:xfrm>
          <a:prstGeom prst="round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302752" y="3721607"/>
            <a:ext cx="3429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DB261D"/>
                </a:solidFill>
                <a:latin typeface="Calibri"/>
              </a:rPr>
              <a:t>Ordenar ideas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02752" y="4069079"/>
            <a:ext cx="3374136" cy="1581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1C2833"/>
                </a:solidFill>
                <a:latin typeface="Calibri"/>
              </a:rPr>
              <a:t>De apuntes sueltos a pasos, tabla de responsables o comparación de opciones.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5760" y="6547104"/>
            <a:ext cx="9144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dirty="0" err="1">
                <a:solidFill>
                  <a:srgbClr val="FFFFFF"/>
                </a:solidFill>
                <a:latin typeface="Calibri"/>
              </a:rPr>
              <a:t>Manejo</a:t>
            </a:r>
            <a:r>
              <a:rPr sz="1100" b="0" dirty="0">
                <a:solidFill>
                  <a:srgbClr val="FFFFFF"/>
                </a:solidFill>
                <a:latin typeface="Calibri"/>
              </a:rPr>
              <a:t> y </a:t>
            </a:r>
            <a:r>
              <a:rPr sz="1100" b="0" dirty="0" err="1">
                <a:solidFill>
                  <a:srgbClr val="FFFFFF"/>
                </a:solidFill>
                <a:latin typeface="Calibri"/>
              </a:rPr>
              <a:t>uso</a:t>
            </a:r>
            <a:r>
              <a:rPr sz="1100" b="0" dirty="0">
                <a:solidFill>
                  <a:srgbClr val="FFFFFF"/>
                </a:solidFill>
                <a:latin typeface="Calibri"/>
              </a:rPr>
              <a:t> de Google </a:t>
            </a:r>
            <a:r>
              <a:rPr sz="1100" b="0" dirty="0" err="1">
                <a:solidFill>
                  <a:srgbClr val="FFFFFF"/>
                </a:solidFill>
                <a:latin typeface="Calibri"/>
              </a:rPr>
              <a:t>emini</a:t>
            </a:r>
            <a:r>
              <a:rPr sz="1100" b="0" dirty="0">
                <a:solidFill>
                  <a:srgbClr val="FFFFFF"/>
                </a:solidFill>
                <a:latin typeface="Calibri"/>
              </a:rPr>
              <a:t>  ·  </a:t>
            </a:r>
            <a:r>
              <a:rPr sz="1100" b="0" dirty="0" err="1">
                <a:solidFill>
                  <a:srgbClr val="FFFFFF"/>
                </a:solidFill>
                <a:latin typeface="Calibri"/>
              </a:rPr>
              <a:t>Sesión</a:t>
            </a:r>
            <a:r>
              <a:rPr sz="1100" b="0" dirty="0">
                <a:solidFill>
                  <a:srgbClr val="FFFFFF"/>
                </a:solidFill>
                <a:latin typeface="Calibri"/>
              </a:rPr>
              <a:t> </a:t>
            </a:r>
            <a:r>
              <a:rPr sz="1100" b="0" dirty="0" err="1">
                <a:solidFill>
                  <a:srgbClr val="FFFFFF"/>
                </a:solidFill>
                <a:latin typeface="Calibri"/>
              </a:rPr>
              <a:t>práctica</a:t>
            </a:r>
            <a:r>
              <a:rPr sz="1100" b="0" dirty="0">
                <a:solidFill>
                  <a:srgbClr val="FFFFFF"/>
                </a:solidFill>
                <a:latin typeface="Calibri"/>
              </a:rPr>
              <a:t> de 15 </a:t>
            </a:r>
            <a:r>
              <a:rPr sz="1100" b="0" dirty="0" err="1">
                <a:solidFill>
                  <a:srgbClr val="FFFFFF"/>
                </a:solidFill>
                <a:latin typeface="Calibri"/>
              </a:rPr>
              <a:t>minutos</a:t>
            </a:r>
            <a:endParaRPr sz="1100" b="0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10607040" y="654710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Calibri"/>
              </a:rPr>
              <a:t>9  /  11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A52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DB26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FB8DC"/>
                </a:solidFill>
                <a:latin typeface="Calibri"/>
              </a:rPr>
              <a:t>USO RESPONSABLE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Al manejar Gemini, tenga presentes estas reglas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325880"/>
            <a:ext cx="11247120" cy="1097280"/>
          </a:xfrm>
          <a:prstGeom prst="roundRect">
            <a:avLst/>
          </a:prstGeom>
          <a:solidFill>
            <a:srgbClr val="F8D4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85800" y="1618488"/>
            <a:ext cx="2377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DB261D"/>
                </a:solidFill>
                <a:latin typeface="Calibri"/>
              </a:rPr>
              <a:t>No suba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581912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C2833"/>
                </a:solidFill>
                <a:latin typeface="Calibri"/>
              </a:rPr>
              <a:t>Contraseñas, cédulas, datos de clientes, nómina ni información que no publicaría en un correo abierto.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514600"/>
            <a:ext cx="11247120" cy="1097280"/>
          </a:xfrm>
          <a:prstGeom prst="round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85800" y="2807208"/>
            <a:ext cx="2377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A529C"/>
                </a:solidFill>
                <a:latin typeface="Calibri"/>
              </a:rPr>
              <a:t>Verifique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0" y="2770632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C2833"/>
                </a:solidFill>
                <a:latin typeface="Calibri"/>
              </a:rPr>
              <a:t>Nombres, fechas, cifras y pasos. Gemini puede afirmar con seguridad algo que no está en su archivo.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3703320"/>
            <a:ext cx="11247120" cy="1097280"/>
          </a:xfrm>
          <a:prstGeom prst="round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85800" y="3995928"/>
            <a:ext cx="2377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A529C"/>
                </a:solidFill>
                <a:latin typeface="Calibri"/>
              </a:rPr>
              <a:t>Separe chats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0" y="3959352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C2833"/>
                </a:solidFill>
                <a:latin typeface="Calibri"/>
              </a:rPr>
              <a:t>Un tema por conversación. Facilita reutilizar el prompt y no mezclar contextos.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4892040"/>
            <a:ext cx="11247120" cy="1097280"/>
          </a:xfrm>
          <a:prstGeom prst="round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85800" y="5184648"/>
            <a:ext cx="2377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A529C"/>
                </a:solidFill>
                <a:latin typeface="Calibri"/>
              </a:rPr>
              <a:t>Usted envía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0" y="5148072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C2833"/>
                </a:solidFill>
                <a:latin typeface="Calibri"/>
              </a:rPr>
              <a:t>Gemini no reemplaza la aprobación de jefatura ni la firma de un procedimiento.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6547104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Manejo y uso de Google Gemini  ·  Sesión práctica de 15 minutos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7040" y="654710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Calibri"/>
              </a:rPr>
              <a:t>10  /  11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C1B9D7-2592-A380-814A-F5EA93A1B2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Marcador de posición de imagen 8" descr="Una mano tocando un teléfono móvil">
            <a:extLst>
              <a:ext uri="{FF2B5EF4-FFF2-40B4-BE49-F238E27FC236}">
                <a16:creationId xmlns:a16="http://schemas.microsoft.com/office/drawing/2014/main" id="{F19216B7-4EEC-C109-DD9F-E49602567870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524000" y="857252"/>
            <a:ext cx="4572000" cy="4778513"/>
          </a:xfrm>
        </p:spPr>
      </p:pic>
      <p:sp>
        <p:nvSpPr>
          <p:cNvPr id="20" name="Rectángulo 19" descr="Bloque de énfasis">
            <a:extLst>
              <a:ext uri="{FF2B5EF4-FFF2-40B4-BE49-F238E27FC236}">
                <a16:creationId xmlns:a16="http://schemas.microsoft.com/office/drawing/2014/main" id="{9062AE7A-743D-706A-D744-90CFA61B39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535442" y="3623306"/>
            <a:ext cx="1808559" cy="8611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/>
            <a:endParaRPr lang="es-ES" sz="135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30CAADC1-0237-2E5B-24FF-C2E620540D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>
            <a:normAutofit/>
          </a:bodyPr>
          <a:lstStyle/>
          <a:p>
            <a:pPr rtl="0"/>
            <a:r>
              <a:rPr lang="es-EC" sz="3900" dirty="0"/>
              <a:t>GRACIAS!</a:t>
            </a:r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885139A4-2D8F-92A2-BD65-B7D45E3F30C2}"/>
              </a:ext>
            </a:extLst>
          </p:cNvPr>
          <p:cNvSpPr>
            <a:spLocks noGrp="1"/>
          </p:cNvSpPr>
          <p:nvPr>
            <p:ph type="sldNum" sz="quarter" idx="33"/>
          </p:nvPr>
        </p:nvSpPr>
        <p:spPr/>
        <p:txBody>
          <a:bodyPr rtlCol="0"/>
          <a:lstStyle/>
          <a:p>
            <a:pPr rtl="0"/>
            <a:fld id="{19B51A1E-902D-48AF-9020-955120F399B6}" type="slidenum">
              <a:rPr lang="es-ES" smtClean="0"/>
              <a:pPr rtl="0"/>
              <a:t>15</a:t>
            </a:fld>
            <a:endParaRPr lang="es-ES"/>
          </a:p>
        </p:txBody>
      </p:sp>
      <p:pic>
        <p:nvPicPr>
          <p:cNvPr id="4" name="Imagen 3" descr="Un dibujo de una cara feliz&#10;&#10;Descripción generada automáticamente con confianza baja">
            <a:extLst>
              <a:ext uri="{FF2B5EF4-FFF2-40B4-BE49-F238E27FC236}">
                <a16:creationId xmlns:a16="http://schemas.microsoft.com/office/drawing/2014/main" id="{3222B5FC-2BA8-BAF9-3DDD-8D5DCA40EAB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837473B0-CC2E-450A-ABE3-18F120FF3D39}">
                <a1611:picAttrSrcUrl xmlns:a1611="http://schemas.microsoft.com/office/drawing/2016/11/main" r:id="rId5"/>
              </a:ext>
            </a:extLst>
          </a:blip>
          <a:stretch>
            <a:fillRect/>
          </a:stretch>
        </p:blipFill>
        <p:spPr>
          <a:xfrm>
            <a:off x="9118538" y="996931"/>
            <a:ext cx="1387463" cy="12259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949845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39</TotalTime>
  <Words>1644</Words>
  <Application>Microsoft Office PowerPoint</Application>
  <PresentationFormat>Panorámica</PresentationFormat>
  <Paragraphs>157</Paragraphs>
  <Slides>15</Slides>
  <Notes>15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15</vt:i4>
      </vt:variant>
    </vt:vector>
  </HeadingPairs>
  <TitlesOfParts>
    <vt:vector size="19" baseType="lpstr">
      <vt:lpstr>Arial</vt:lpstr>
      <vt:lpstr>Calibri</vt:lpstr>
      <vt:lpstr>Times New Roman</vt:lpstr>
      <vt:lpstr>Office Theme</vt:lpstr>
      <vt:lpstr> ADITEC    ECUATORIANA     CIA.    LTDA</vt:lpstr>
      <vt:lpstr>Nuestra misión</vt:lpstr>
      <vt:lpstr>Nuestra visión</vt:lpstr>
      <vt:lpstr>Valores</vt:lpstr>
      <vt:lpstr>Manejo y uso de Google Gemini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GRACIAS!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Jenniffer Mora Loor</dc:creator>
  <cp:keywords/>
  <dc:description>generated using python-pptx</dc:description>
  <cp:lastModifiedBy>Jenniffer Mora Loor</cp:lastModifiedBy>
  <cp:revision>4</cp:revision>
  <dcterms:created xsi:type="dcterms:W3CDTF">2013-01-27T09:14:16Z</dcterms:created>
  <dcterms:modified xsi:type="dcterms:W3CDTF">2026-08-31T21:18:19Z</dcterms:modified>
  <cp:category/>
</cp:coreProperties>
</file>